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2b96a3b5e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g3e2b96a3b5e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2b96a3b5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g3e2b96a3b5e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2b96a3b5e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g3e2b96a3b5e_0_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2b96a3b5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6" name="Google Shape;136;g3e2b96a3b5e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2b96a3b5e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g3e2b96a3b5e_0_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2b96a3b5e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g3e2b96a3b5e_0_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e2b96a3b5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" name="Google Shape;163;g3e2b96a3b5e_0_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e2b96a3b5e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" name="Google Shape;173;g3e2b96a3b5e_0_10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2b96a3b5e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g3e2b96a3b5e_0_8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2b96a3b5e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2" name="Google Shape;192;g3e2b96a3b5e_0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2b96a3b5e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1" name="Google Shape;201;g3e2b96a3b5e_0_1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2b96a3b5e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0" name="Google Shape;210;g3e2b96a3b5e_0_1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e2b96a3b5e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g3e2b96a3b5e_0_1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822952" y="2743200"/>
            <a:ext cx="78843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0" i="0" lang="en-US" sz="3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Deep Learning for Happy vs. Not Happy Facial Expression Recognition in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Jose Carlos Alania Aguero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ECE-533 Image Processing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University of New Mexico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0" y="0"/>
            <a:ext cx="9144000" cy="6180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633585" y="849275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Outline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4"/>
          <p:cNvSpPr/>
          <p:nvPr/>
        </p:nvSpPr>
        <p:spPr>
          <a:xfrm flipH="1" rot="10800000">
            <a:off x="822950" y="1505415"/>
            <a:ext cx="457200" cy="7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22950" y="1756750"/>
            <a:ext cx="10058400" cy="32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spcBef>
                <a:spcPts val="100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Introduction &amp; Motivation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Background (Classical Methods)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Current Deep Learning Systems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Proposed Pipeline (Your System)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Validation &amp; Testing Setup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Results &amp; Observations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Emerging Systems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Conclusions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/>
          <p:nvPr/>
        </p:nvSpPr>
        <p:spPr>
          <a:xfrm>
            <a:off x="0" y="-39875"/>
            <a:ext cx="9144000" cy="7377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822960" y="739625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Introduction &amp; </a:t>
            </a:r>
            <a:r>
              <a:rPr b="0" i="0" lang="en-US" sz="3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Motivation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5"/>
          <p:cNvSpPr/>
          <p:nvPr/>
        </p:nvSpPr>
        <p:spPr>
          <a:xfrm>
            <a:off x="822960" y="1654025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822950" y="1777025"/>
            <a:ext cx="10058400" cy="3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Why this problem matters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Emotion recognition enables: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Human-computer interaction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Mental health monitoring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Affective AI systems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Video-based analysis captures </a:t>
            </a:r>
            <a:r>
              <a:rPr b="1" lang="en-US" sz="1100">
                <a:solidFill>
                  <a:schemeClr val="lt1"/>
                </a:solidFill>
              </a:rPr>
              <a:t>temporal facial dynamics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Deep learning enables automatic feature extraction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Why it is still relevant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Real-world deployment still unreliable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Domain shift (datasets ≠ real life)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Class imbalance issues remain unsolved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Need for lightweight models (edge devices)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9601200" y="6178045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/>
          <p:nvPr/>
        </p:nvSpPr>
        <p:spPr>
          <a:xfrm>
            <a:off x="0" y="0"/>
            <a:ext cx="9144000" cy="4686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812992" y="490427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Background (Classical Methods)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812992" y="1404827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813000" y="2035825"/>
            <a:ext cx="10058400" cy="325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Older approaches (not used in this work)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HOG (Histogram of Oriented Gradients)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LBP (Local Binary Patterns)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SVM / KNN / Random Forest classifiers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Hand-crafted facial features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Limitations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Poor generalization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Sensitive to lighting &amp; pose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No temporal modeling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Manual feature engineering required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/>
          <p:nvPr/>
        </p:nvSpPr>
        <p:spPr>
          <a:xfrm>
            <a:off x="0" y="0"/>
            <a:ext cx="9144000" cy="4785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Current Systems (Deep Learning Baseline)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822950" y="1917238"/>
            <a:ext cx="10058400" cy="38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Modern standard approach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CNN-based models: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VGG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ResNet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MobileNet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Typical pipeline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Face Detection → CNN → Softmax Classification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Characteristics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Automatic feature learning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Strong spatial representation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Still mostly frame-based (no time modeling)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/>
          <p:nvPr/>
        </p:nvSpPr>
        <p:spPr>
          <a:xfrm>
            <a:off x="0" y="0"/>
            <a:ext cx="9144000" cy="3189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8"/>
          <p:cNvSpPr txBox="1"/>
          <p:nvPr/>
        </p:nvSpPr>
        <p:spPr>
          <a:xfrm>
            <a:off x="822960" y="340907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Proposed System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822960" y="1255307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 txBox="1"/>
          <p:nvPr/>
        </p:nvSpPr>
        <p:spPr>
          <a:xfrm>
            <a:off x="822950" y="1961438"/>
            <a:ext cx="10058400" cy="38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System Architecture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Video → Frame Extraction → Preprocessing → ResNet18 → Classification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Key Components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ResNet18 (transfer learning)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CrossEntropy Loss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Adam optimizer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K-Fold Cross Validation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Early stopping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Output Classes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Happy (1)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Not Happy (0)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0" y="0"/>
            <a:ext cx="9144000" cy="4386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822960" y="450555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Validation &amp; Testing Setup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822960" y="1364955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9"/>
          <p:cNvSpPr txBox="1"/>
          <p:nvPr/>
        </p:nvSpPr>
        <p:spPr>
          <a:xfrm>
            <a:off x="822960" y="1720500"/>
            <a:ext cx="10058400" cy="45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Dataset Strategy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RAVDESS → Training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CREMA-D → Validation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AFEW → Testing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Why this design matters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Tests cross-dataset generalization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Simulates real-world conditions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Reduces overfitting risk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Metrics Used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Accuracy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Precision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Recall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F1-score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ROC Curve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0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0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0"/>
          <p:cNvSpPr txBox="1"/>
          <p:nvPr/>
        </p:nvSpPr>
        <p:spPr>
          <a:xfrm>
            <a:off x="822950" y="1973675"/>
            <a:ext cx="10058400" cy="39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Validation Results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Accuracy: </a:t>
            </a:r>
            <a:r>
              <a:rPr b="1" lang="en-US" sz="1100">
                <a:solidFill>
                  <a:schemeClr val="lt1"/>
                </a:solidFill>
              </a:rPr>
              <a:t>82.82%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Precision: </a:t>
            </a:r>
            <a:r>
              <a:rPr b="1" lang="en-US" sz="1100">
                <a:solidFill>
                  <a:schemeClr val="lt1"/>
                </a:solidFill>
              </a:rPr>
              <a:t>0.00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Recall: </a:t>
            </a:r>
            <a:r>
              <a:rPr b="1" lang="en-US" sz="1100">
                <a:solidFill>
                  <a:schemeClr val="lt1"/>
                </a:solidFill>
              </a:rPr>
              <a:t>0.00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F1-score: </a:t>
            </a:r>
            <a:r>
              <a:rPr b="1" lang="en-US" sz="1100">
                <a:solidFill>
                  <a:schemeClr val="lt1"/>
                </a:solidFill>
              </a:rPr>
              <a:t>0.00</a:t>
            </a:r>
            <a:endParaRPr b="1"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Testing Results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Accuracy: </a:t>
            </a:r>
            <a:r>
              <a:rPr b="1" lang="en-US" sz="1100">
                <a:solidFill>
                  <a:schemeClr val="lt1"/>
                </a:solidFill>
              </a:rPr>
              <a:t>82.62%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Similar failure pattern across datasets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Key Insight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Model predicted mostly: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Not Happy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due to class imbalance.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1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1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1"/>
          <p:cNvSpPr txBox="1"/>
          <p:nvPr/>
        </p:nvSpPr>
        <p:spPr>
          <a:xfrm>
            <a:off x="822950" y="1799275"/>
            <a:ext cx="10058400" cy="4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ROC Curve (Top Graph)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lt1"/>
                </a:solidFill>
              </a:rPr>
              <a:t>An ROC curve measures how well a model separates positive and negative classes.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AUC = 0.55</a:t>
            </a:r>
            <a:r>
              <a:rPr lang="en-US" sz="1200">
                <a:solidFill>
                  <a:schemeClr val="lt1"/>
                </a:solidFill>
              </a:rPr>
              <a:t>: Shows almost zero predictive power.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Baseline comparison</a:t>
            </a:r>
            <a:r>
              <a:rPr lang="en-US" sz="1200">
                <a:solidFill>
                  <a:schemeClr val="lt1"/>
                </a:solidFill>
              </a:rPr>
              <a:t>: Random guessing gives an AUC of 0.50.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Diagonal line</a:t>
            </a:r>
            <a:r>
              <a:rPr lang="en-US" sz="1200">
                <a:solidFill>
                  <a:schemeClr val="lt1"/>
                </a:solidFill>
              </a:rPr>
              <a:t>: Your curve closely hugs the random line.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Conclusion</a:t>
            </a:r>
            <a:r>
              <a:rPr lang="en-US" sz="1200">
                <a:solidFill>
                  <a:schemeClr val="lt1"/>
                </a:solidFill>
              </a:rPr>
              <a:t>: The model cannot reliably distinguish classes.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📉 Precision-Recall Curve (Bottom Graph)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lt1"/>
                </a:solidFill>
              </a:rPr>
              <a:t>This curve evaluates performance when dealing with imbalanced datasets.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Flat line</a:t>
            </a:r>
            <a:r>
              <a:rPr lang="en-US" sz="1200">
                <a:solidFill>
                  <a:schemeClr val="lt1"/>
                </a:solidFill>
              </a:rPr>
              <a:t>: Precision stays constant near 0.20.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Class imbalance</a:t>
            </a:r>
            <a:r>
              <a:rPr lang="en-US" sz="1200">
                <a:solidFill>
                  <a:schemeClr val="lt1"/>
                </a:solidFill>
              </a:rPr>
              <a:t>: The positive class likely represents 20% of data.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High recall trap</a:t>
            </a:r>
            <a:r>
              <a:rPr lang="en-US" sz="1200">
                <a:solidFill>
                  <a:schemeClr val="lt1"/>
                </a:solidFill>
              </a:rPr>
              <a:t>: Increasing recall does not improve precision.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Conclusion</a:t>
            </a:r>
            <a:r>
              <a:rPr lang="en-US" sz="1200">
                <a:solidFill>
                  <a:schemeClr val="lt1"/>
                </a:solidFill>
              </a:rPr>
              <a:t>: The model behaves like a random classifier.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1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</p:txBody>
      </p:sp>
      <p:sp>
        <p:nvSpPr>
          <p:cNvPr id="160" name="Google Shape;160;p21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2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2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2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2"/>
          <p:cNvSpPr txBox="1"/>
          <p:nvPr/>
        </p:nvSpPr>
        <p:spPr>
          <a:xfrm>
            <a:off x="822950" y="1799275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0150" y="1906950"/>
            <a:ext cx="4371975" cy="418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3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3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3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3"/>
          <p:cNvSpPr txBox="1"/>
          <p:nvPr/>
        </p:nvSpPr>
        <p:spPr>
          <a:xfrm>
            <a:off x="822950" y="1799275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</p:txBody>
      </p:sp>
      <p:sp>
        <p:nvSpPr>
          <p:cNvPr id="179" name="Google Shape;179;p23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8525" y="1799275"/>
            <a:ext cx="4381500" cy="422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4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4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Recommended Next Steps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4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4"/>
          <p:cNvSpPr txBox="1"/>
          <p:nvPr/>
        </p:nvSpPr>
        <p:spPr>
          <a:xfrm>
            <a:off x="822950" y="1799275"/>
            <a:ext cx="10058400" cy="22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lt1"/>
                </a:solidFill>
              </a:rPr>
              <a:t>To improve these results: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Feature engineering</a:t>
            </a:r>
            <a:r>
              <a:rPr lang="en-US" sz="1200">
                <a:solidFill>
                  <a:schemeClr val="lt1"/>
                </a:solidFill>
              </a:rPr>
              <a:t>: Add more informative predictive variables.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Fix imbalance</a:t>
            </a:r>
            <a:r>
              <a:rPr lang="en-US" sz="1200">
                <a:solidFill>
                  <a:schemeClr val="lt1"/>
                </a:solidFill>
              </a:rPr>
              <a:t>: Use oversampling (SMOTE) or undersampling.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Model tuning</a:t>
            </a:r>
            <a:r>
              <a:rPr lang="en-US" sz="1200">
                <a:solidFill>
                  <a:schemeClr val="lt1"/>
                </a:solidFill>
              </a:rPr>
              <a:t>: Adjust hyper-parameters or try different algorithms.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Check labels</a:t>
            </a:r>
            <a:r>
              <a:rPr lang="en-US" sz="1200">
                <a:solidFill>
                  <a:schemeClr val="lt1"/>
                </a:solidFill>
              </a:rPr>
              <a:t>: Ensure training data targets are correct.</a:t>
            </a:r>
            <a:endParaRPr sz="1200">
              <a:solidFill>
                <a:schemeClr val="lt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1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Emerging Systems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5"/>
          <p:cNvSpPr txBox="1"/>
          <p:nvPr/>
        </p:nvSpPr>
        <p:spPr>
          <a:xfrm>
            <a:off x="822950" y="1799275"/>
            <a:ext cx="10058400" cy="12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CNN + LSTM (temporal modeling)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Transformer-based vision models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Multimodal systems (video + audio + EEG)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Attention-based facial analysis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198" name="Google Shape;198;p25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6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Future Directions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6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6"/>
          <p:cNvSpPr txBox="1"/>
          <p:nvPr/>
        </p:nvSpPr>
        <p:spPr>
          <a:xfrm>
            <a:off x="822950" y="1799275"/>
            <a:ext cx="10058400" cy="12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Class balancing (weighted loss)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Focal Loss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Temporal modeling (ResNet + LSTM)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Domain adaptation techniques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07" name="Google Shape;207;p26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7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Conclusion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7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7"/>
          <p:cNvSpPr txBox="1"/>
          <p:nvPr/>
        </p:nvSpPr>
        <p:spPr>
          <a:xfrm>
            <a:off x="822950" y="1799275"/>
            <a:ext cx="10058400" cy="38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What was achieved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End-to-end deep learning pipeline built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ResNet18 applied to video emotion recognition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Cross-dataset evaluation implemented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Model limitations identified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Open Problems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Dataset imbalance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Domain shift between datasets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Lack of temporal modeling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Final Insight</a:t>
            </a:r>
            <a:endParaRPr b="1" sz="1700">
              <a:solidFill>
                <a:schemeClr val="lt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Deep learning works well, but real-world emotion recognition still requires better generalization and temporal understanding.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16" name="Google Shape;216;p27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Conclusion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8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8"/>
          <p:cNvSpPr txBox="1"/>
          <p:nvPr/>
        </p:nvSpPr>
        <p:spPr>
          <a:xfrm>
            <a:off x="822950" y="1799275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THANKS!!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25" name="Google Shape;225;p28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