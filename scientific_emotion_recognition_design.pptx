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2b96a3b5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g3e2b96a3b5e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2b96a3b5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g3e2b96a3b5e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2bd9984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e2bd99849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2b96a3b5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e2b96a3b5e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2b96a3b5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3e2b96a3b5e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2b96a3b5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g3e2b96a3b5e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2b96a3b5e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e2b96a3b5e_0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2b96a3b5e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g3e2b96a3b5e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2b96a3b5e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g3e2b96a3b5e_0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2b96a3b5e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g3e2b96a3b5e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2b96a3b5e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g3e2b96a3b5e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2b96a3b5e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g3e2b96a3b5e_0_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2b96a3b5e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g3e2b96a3b5e_0_1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2b96a3b5e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g3e2b96a3b5e_0_1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9144000" cy="1920240"/>
          </a:xfrm>
          <a:prstGeom prst="rect">
            <a:avLst/>
          </a:prstGeom>
          <a:solidFill>
            <a:srgbClr val="32A8A0"/>
          </a:solidFill>
          <a:ln cap="flat" cmpd="sng" w="9525">
            <a:solidFill>
              <a:srgbClr val="32A8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822952" y="2743200"/>
            <a:ext cx="78843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Deep Learning for Happy vs. Not Happy Facial Expression Recognition in Video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822960" y="3657600"/>
            <a:ext cx="457200" cy="274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822960" y="4114800"/>
            <a:ext cx="10058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D2D2D2"/>
                </a:solidFill>
                <a:latin typeface="Georgia"/>
                <a:ea typeface="Georgia"/>
                <a:cs typeface="Georgia"/>
                <a:sym typeface="Georgia"/>
              </a:rPr>
              <a:t>Jose Carlos Alania Aguero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D2D2D2"/>
                </a:solidFill>
                <a:latin typeface="Georgia"/>
                <a:ea typeface="Georgia"/>
                <a:cs typeface="Georgia"/>
                <a:sym typeface="Georgia"/>
              </a:rPr>
              <a:t>ECE-533 Image Processing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D2D2D2"/>
                </a:solidFill>
                <a:latin typeface="Georgia"/>
                <a:ea typeface="Georgia"/>
                <a:cs typeface="Georgia"/>
                <a:sym typeface="Georgia"/>
              </a:rPr>
              <a:t>University of New Mexico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9601200" y="62179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2D2D2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9144000" cy="618000"/>
          </a:xfrm>
          <a:prstGeom prst="rect">
            <a:avLst/>
          </a:prstGeom>
          <a:solidFill>
            <a:srgbClr val="32A8A0"/>
          </a:solidFill>
          <a:ln cap="flat" cmpd="sng" w="9525">
            <a:solidFill>
              <a:srgbClr val="32A8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633585" y="849275"/>
            <a:ext cx="960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Outline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"/>
          <p:cNvSpPr/>
          <p:nvPr/>
        </p:nvSpPr>
        <p:spPr>
          <a:xfrm flipH="1" rot="10800000">
            <a:off x="822950" y="1505415"/>
            <a:ext cx="457200" cy="79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822950" y="1756750"/>
            <a:ext cx="10058400" cy="3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rgbClr val="D2D2D2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rgbClr val="D2D2D2"/>
                </a:solidFill>
                <a:latin typeface="Georgia"/>
                <a:ea typeface="Georgia"/>
                <a:cs typeface="Georgia"/>
                <a:sym typeface="Georgia"/>
              </a:rPr>
              <a:t>Introduction &amp; Motivation</a:t>
            </a:r>
            <a:endParaRPr sz="2000">
              <a:solidFill>
                <a:srgbClr val="D2D2D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D2D2D2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rgbClr val="D2D2D2"/>
                </a:solidFill>
                <a:latin typeface="Georgia"/>
                <a:ea typeface="Georgia"/>
                <a:cs typeface="Georgia"/>
                <a:sym typeface="Georgia"/>
              </a:rPr>
              <a:t>Background (Classical Methods)</a:t>
            </a:r>
            <a:endParaRPr sz="2000">
              <a:solidFill>
                <a:srgbClr val="D2D2D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D2D2D2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rgbClr val="D2D2D2"/>
                </a:solidFill>
                <a:latin typeface="Georgia"/>
                <a:ea typeface="Georgia"/>
                <a:cs typeface="Georgia"/>
                <a:sym typeface="Georgia"/>
              </a:rPr>
              <a:t>Current Deep Learning Systems</a:t>
            </a:r>
            <a:endParaRPr sz="2000">
              <a:solidFill>
                <a:srgbClr val="D2D2D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D2D2D2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rgbClr val="D2D2D2"/>
                </a:solidFill>
                <a:latin typeface="Georgia"/>
                <a:ea typeface="Georgia"/>
                <a:cs typeface="Georgia"/>
                <a:sym typeface="Georgia"/>
              </a:rPr>
              <a:t>Proposed Pipeline (Your System)</a:t>
            </a:r>
            <a:endParaRPr sz="2000">
              <a:solidFill>
                <a:srgbClr val="D2D2D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D2D2D2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rgbClr val="D2D2D2"/>
                </a:solidFill>
                <a:latin typeface="Georgia"/>
                <a:ea typeface="Georgia"/>
                <a:cs typeface="Georgia"/>
                <a:sym typeface="Georgia"/>
              </a:rPr>
              <a:t>Validation &amp; Testing Setup</a:t>
            </a:r>
            <a:endParaRPr sz="2000">
              <a:solidFill>
                <a:srgbClr val="D2D2D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D2D2D2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rgbClr val="D2D2D2"/>
                </a:solidFill>
                <a:latin typeface="Georgia"/>
                <a:ea typeface="Georgia"/>
                <a:cs typeface="Georgia"/>
                <a:sym typeface="Georgia"/>
              </a:rPr>
              <a:t>Results &amp; Observations</a:t>
            </a:r>
            <a:endParaRPr sz="2000">
              <a:solidFill>
                <a:srgbClr val="D2D2D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D2D2D2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rgbClr val="D2D2D2"/>
                </a:solidFill>
                <a:latin typeface="Georgia"/>
                <a:ea typeface="Georgia"/>
                <a:cs typeface="Georgia"/>
                <a:sym typeface="Georgia"/>
              </a:rPr>
              <a:t>Emerging Systems</a:t>
            </a:r>
            <a:endParaRPr sz="2000">
              <a:solidFill>
                <a:srgbClr val="D2D2D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D2D2D2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rgbClr val="D2D2D2"/>
                </a:solidFill>
                <a:latin typeface="Georgia"/>
                <a:ea typeface="Georgia"/>
                <a:cs typeface="Georgia"/>
                <a:sym typeface="Georgia"/>
              </a:rPr>
              <a:t>Future Directions</a:t>
            </a:r>
            <a:endParaRPr sz="2000">
              <a:solidFill>
                <a:srgbClr val="D2D2D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D2D2D2"/>
              </a:buClr>
              <a:buSzPts val="2000"/>
              <a:buFont typeface="Georgia"/>
              <a:buAutoNum type="arabicPeriod"/>
            </a:pPr>
            <a:r>
              <a:rPr lang="en-US" sz="2000">
                <a:solidFill>
                  <a:srgbClr val="D2D2D2"/>
                </a:solidFill>
                <a:latin typeface="Georgia"/>
                <a:ea typeface="Georgia"/>
                <a:cs typeface="Georgia"/>
                <a:sym typeface="Georgia"/>
              </a:rPr>
              <a:t>Conclusions</a:t>
            </a:r>
            <a:endParaRPr sz="2000">
              <a:solidFill>
                <a:srgbClr val="D2D2D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D2D2D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9601200" y="62179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2D2D2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/>
          <p:nvPr/>
        </p:nvSpPr>
        <p:spPr>
          <a:xfrm>
            <a:off x="0" y="-39875"/>
            <a:ext cx="9144000" cy="737700"/>
          </a:xfrm>
          <a:prstGeom prst="rect">
            <a:avLst/>
          </a:prstGeom>
          <a:solidFill>
            <a:srgbClr val="32A8A0"/>
          </a:solidFill>
          <a:ln cap="flat" cmpd="sng" w="9525">
            <a:solidFill>
              <a:srgbClr val="32A8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822960" y="739625"/>
            <a:ext cx="960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Introduction &amp; </a:t>
            </a:r>
            <a:r>
              <a:rPr b="0" i="0" lang="en-US" sz="3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Motivation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822960" y="1654025"/>
            <a:ext cx="457200" cy="27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822950" y="1777025"/>
            <a:ext cx="10058400" cy="3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lt1"/>
                </a:solidFill>
              </a:rPr>
              <a:t>Why this problem matters</a:t>
            </a:r>
            <a:endParaRPr b="1" sz="17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Emotion recognition enables:</a:t>
            </a:r>
            <a:endParaRPr sz="1100">
              <a:solidFill>
                <a:schemeClr val="lt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en-US" sz="1100">
                <a:solidFill>
                  <a:schemeClr val="lt1"/>
                </a:solidFill>
              </a:rPr>
              <a:t>Human-computer interaction</a:t>
            </a:r>
            <a:endParaRPr sz="1100">
              <a:solidFill>
                <a:schemeClr val="lt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en-US" sz="1100">
                <a:solidFill>
                  <a:schemeClr val="lt1"/>
                </a:solidFill>
              </a:rPr>
              <a:t>Mental health monitoring</a:t>
            </a:r>
            <a:endParaRPr sz="1100">
              <a:solidFill>
                <a:schemeClr val="lt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en-US" sz="1100">
                <a:solidFill>
                  <a:schemeClr val="lt1"/>
                </a:solidFill>
              </a:rPr>
              <a:t>Affective AI systems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Video-based analysis captures </a:t>
            </a:r>
            <a:r>
              <a:rPr b="1" lang="en-US" sz="1100">
                <a:solidFill>
                  <a:schemeClr val="lt1"/>
                </a:solidFill>
              </a:rPr>
              <a:t>temporal facial dynamics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Deep learning enables automatic feature extraction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lt1"/>
                </a:solidFill>
              </a:rPr>
              <a:t>Why it is still relevant</a:t>
            </a:r>
            <a:endParaRPr b="1" sz="17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Real-world deployment still unreliable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Domain shift (datasets ≠ real life)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Class imbalance issues remain unsolved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Need for lightweight models (edge devices)</a:t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9601200" y="6178045"/>
            <a:ext cx="182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2D2D2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/>
          <p:nvPr/>
        </p:nvSpPr>
        <p:spPr>
          <a:xfrm>
            <a:off x="0" y="0"/>
            <a:ext cx="9144000" cy="468600"/>
          </a:xfrm>
          <a:prstGeom prst="rect">
            <a:avLst/>
          </a:prstGeom>
          <a:solidFill>
            <a:srgbClr val="32A8A0"/>
          </a:solidFill>
          <a:ln cap="flat" cmpd="sng" w="9525">
            <a:solidFill>
              <a:srgbClr val="32A8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812992" y="490427"/>
            <a:ext cx="960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Background (Classical Methods)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812992" y="1404827"/>
            <a:ext cx="457200" cy="27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813000" y="2035825"/>
            <a:ext cx="10058400" cy="3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lt1"/>
                </a:solidFill>
              </a:rPr>
              <a:t>Older approaches (not used in this work)</a:t>
            </a:r>
            <a:endParaRPr b="1" sz="17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HOG (Histogram of Oriented Gradients)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LBP (Local Binary Patterns)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SVM / KNN / Random Forest classifiers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Hand-crafted facial features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lt1"/>
                </a:solidFill>
              </a:rPr>
              <a:t>Limitations</a:t>
            </a:r>
            <a:endParaRPr b="1" sz="17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Poor generalization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Sensitive to lighting &amp; pose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No temporal modeling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Manual feature engineering required</a:t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9601200" y="62179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2D2D2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/>
          <p:nvPr/>
        </p:nvSpPr>
        <p:spPr>
          <a:xfrm>
            <a:off x="0" y="0"/>
            <a:ext cx="9144000" cy="478500"/>
          </a:xfrm>
          <a:prstGeom prst="rect">
            <a:avLst/>
          </a:prstGeom>
          <a:solidFill>
            <a:srgbClr val="32A8A0"/>
          </a:solidFill>
          <a:ln cap="flat" cmpd="sng" w="9525">
            <a:solidFill>
              <a:srgbClr val="32A8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822960" y="510363"/>
            <a:ext cx="960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Current Systems (Deep Learning Baseline)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822960" y="1424763"/>
            <a:ext cx="457200" cy="27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822950" y="1917238"/>
            <a:ext cx="10058400" cy="38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lt1"/>
                </a:solidFill>
              </a:rPr>
              <a:t>Modern standard approach</a:t>
            </a:r>
            <a:endParaRPr b="1" sz="17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CNN-based models:</a:t>
            </a:r>
            <a:endParaRPr sz="1100">
              <a:solidFill>
                <a:schemeClr val="lt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en-US" sz="1100">
                <a:solidFill>
                  <a:schemeClr val="lt1"/>
                </a:solidFill>
              </a:rPr>
              <a:t>VGG</a:t>
            </a:r>
            <a:endParaRPr sz="1100">
              <a:solidFill>
                <a:schemeClr val="lt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en-US" sz="1100">
                <a:solidFill>
                  <a:schemeClr val="lt1"/>
                </a:solidFill>
              </a:rPr>
              <a:t>ResNet</a:t>
            </a:r>
            <a:endParaRPr sz="1100">
              <a:solidFill>
                <a:schemeClr val="lt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en-US" sz="1100">
                <a:solidFill>
                  <a:schemeClr val="lt1"/>
                </a:solidFill>
              </a:rPr>
              <a:t>MobileNet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lt1"/>
                </a:solidFill>
              </a:rPr>
              <a:t>Typical pipeline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</a:rPr>
              <a:t>Face Detection → CNN → Softmax Classification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lt1"/>
                </a:solidFill>
              </a:rPr>
              <a:t>Characteristics</a:t>
            </a:r>
            <a:endParaRPr b="1" sz="17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Automatic feature learning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Strong spatial representation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Still mostly frame-based (no time modeling)</a:t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9601200" y="6217920"/>
            <a:ext cx="182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2D2D2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/>
          <p:nvPr/>
        </p:nvSpPr>
        <p:spPr>
          <a:xfrm>
            <a:off x="0" y="0"/>
            <a:ext cx="9144000" cy="478500"/>
          </a:xfrm>
          <a:prstGeom prst="rect">
            <a:avLst/>
          </a:prstGeom>
          <a:solidFill>
            <a:srgbClr val="32A8A0"/>
          </a:solidFill>
          <a:ln cap="flat" cmpd="sng" w="9525">
            <a:solidFill>
              <a:srgbClr val="32A8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822960" y="510363"/>
            <a:ext cx="960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Current Systems (Deep Learning Baseline)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822960" y="1424763"/>
            <a:ext cx="457200" cy="27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822950" y="1917238"/>
            <a:ext cx="1005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9601200" y="6217920"/>
            <a:ext cx="182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2D2D2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425" y="1831888"/>
            <a:ext cx="7677150" cy="364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/>
          <p:nvPr/>
        </p:nvSpPr>
        <p:spPr>
          <a:xfrm>
            <a:off x="0" y="0"/>
            <a:ext cx="9144000" cy="318900"/>
          </a:xfrm>
          <a:prstGeom prst="rect">
            <a:avLst/>
          </a:prstGeom>
          <a:solidFill>
            <a:srgbClr val="32A8A0"/>
          </a:solidFill>
          <a:ln cap="flat" cmpd="sng" w="9525">
            <a:solidFill>
              <a:srgbClr val="32A8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822960" y="340907"/>
            <a:ext cx="960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Proposed 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822960" y="1255307"/>
            <a:ext cx="457200" cy="27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822950" y="1961438"/>
            <a:ext cx="10058400" cy="38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lt1"/>
                </a:solidFill>
              </a:rPr>
              <a:t>System Architecture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</a:rPr>
              <a:t>Video → Frame Extraction → Preprocessing → ResNet18 → Classification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lt1"/>
                </a:solidFill>
              </a:rPr>
              <a:t>Key Components</a:t>
            </a:r>
            <a:endParaRPr b="1" sz="17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ResNet18 (transfer learning)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CrossEntropy Loss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Adam optimizer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K-Fold Cross Validation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Early stopping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lt1"/>
                </a:solidFill>
              </a:rPr>
              <a:t>Output Classes</a:t>
            </a:r>
            <a:endParaRPr b="1" sz="17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Happy (1)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Not Happy (0)</a:t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3" name="Google Shape;143;p19"/>
          <p:cNvSpPr txBox="1"/>
          <p:nvPr/>
        </p:nvSpPr>
        <p:spPr>
          <a:xfrm>
            <a:off x="9601200" y="6217920"/>
            <a:ext cx="182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2D2D2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/>
          <p:nvPr/>
        </p:nvSpPr>
        <p:spPr>
          <a:xfrm>
            <a:off x="0" y="0"/>
            <a:ext cx="9144000" cy="438600"/>
          </a:xfrm>
          <a:prstGeom prst="rect">
            <a:avLst/>
          </a:prstGeom>
          <a:solidFill>
            <a:srgbClr val="32A8A0"/>
          </a:solidFill>
          <a:ln cap="flat" cmpd="sng" w="9525">
            <a:solidFill>
              <a:srgbClr val="32A8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822960" y="450555"/>
            <a:ext cx="960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Validation &amp; Testing Setup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822960" y="1364955"/>
            <a:ext cx="457200" cy="27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0"/>
          <p:cNvSpPr txBox="1"/>
          <p:nvPr/>
        </p:nvSpPr>
        <p:spPr>
          <a:xfrm>
            <a:off x="822960" y="1720500"/>
            <a:ext cx="10058400" cy="4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lt1"/>
                </a:solidFill>
              </a:rPr>
              <a:t>Dataset Strategy</a:t>
            </a:r>
            <a:endParaRPr b="1" sz="17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RAVDESS → Training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CREMA-D → Validation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AFEW → Testing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lt1"/>
                </a:solidFill>
              </a:rPr>
              <a:t>Why this design matters</a:t>
            </a:r>
            <a:endParaRPr b="1" sz="17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Tests cross-dataset generalization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Simulates real-world conditions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Reduces overfitting risk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lt1"/>
                </a:solidFill>
              </a:rPr>
              <a:t>Metrics Used</a:t>
            </a:r>
            <a:endParaRPr b="1" sz="17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Accuracy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Precision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Recall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F1-score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ROC Curve</a:t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9601200" y="6217920"/>
            <a:ext cx="182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2D2D2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/>
          <p:nvPr/>
        </p:nvSpPr>
        <p:spPr>
          <a:xfrm>
            <a:off x="0" y="0"/>
            <a:ext cx="9144000" cy="498300"/>
          </a:xfrm>
          <a:prstGeom prst="rect">
            <a:avLst/>
          </a:prstGeom>
          <a:solidFill>
            <a:srgbClr val="32A8A0"/>
          </a:solidFill>
          <a:ln cap="flat" cmpd="sng" w="9525">
            <a:solidFill>
              <a:srgbClr val="32A8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1"/>
          <p:cNvSpPr txBox="1"/>
          <p:nvPr/>
        </p:nvSpPr>
        <p:spPr>
          <a:xfrm>
            <a:off x="822960" y="510363"/>
            <a:ext cx="960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Results &amp; Observations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1"/>
          <p:cNvSpPr/>
          <p:nvPr/>
        </p:nvSpPr>
        <p:spPr>
          <a:xfrm>
            <a:off x="822960" y="1424763"/>
            <a:ext cx="457200" cy="27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1"/>
          <p:cNvSpPr txBox="1"/>
          <p:nvPr/>
        </p:nvSpPr>
        <p:spPr>
          <a:xfrm>
            <a:off x="822950" y="1973675"/>
            <a:ext cx="10058400" cy="39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lt1"/>
                </a:solidFill>
              </a:rPr>
              <a:t>Validation Results</a:t>
            </a:r>
            <a:endParaRPr b="1" sz="17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Accuracy: </a:t>
            </a:r>
            <a:r>
              <a:rPr b="1" lang="en-US" sz="1100">
                <a:solidFill>
                  <a:schemeClr val="lt1"/>
                </a:solidFill>
              </a:rPr>
              <a:t>82.82%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Precision: </a:t>
            </a:r>
            <a:r>
              <a:rPr b="1" lang="en-US" sz="1100">
                <a:solidFill>
                  <a:schemeClr val="lt1"/>
                </a:solidFill>
              </a:rPr>
              <a:t>0.00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Recall: </a:t>
            </a:r>
            <a:r>
              <a:rPr b="1" lang="en-US" sz="1100">
                <a:solidFill>
                  <a:schemeClr val="lt1"/>
                </a:solidFill>
              </a:rPr>
              <a:t>0.00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F1-score: </a:t>
            </a:r>
            <a:r>
              <a:rPr b="1" lang="en-US" sz="1100">
                <a:solidFill>
                  <a:schemeClr val="lt1"/>
                </a:solidFill>
              </a:rPr>
              <a:t>0.00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lt1"/>
                </a:solidFill>
              </a:rPr>
              <a:t>Testing Results</a:t>
            </a:r>
            <a:endParaRPr b="1" sz="17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Accuracy: </a:t>
            </a:r>
            <a:r>
              <a:rPr b="1" lang="en-US" sz="1100">
                <a:solidFill>
                  <a:schemeClr val="lt1"/>
                </a:solidFill>
              </a:rPr>
              <a:t>82.62%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Similar failure pattern across datasets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lt1"/>
                </a:solidFill>
              </a:rPr>
              <a:t>Key Insight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</a:rPr>
              <a:t>Model predicted mostly: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</a:rPr>
              <a:t>Not Happy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</a:rPr>
              <a:t>due to class imbalance.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61" name="Google Shape;161;p21"/>
          <p:cNvSpPr txBox="1"/>
          <p:nvPr/>
        </p:nvSpPr>
        <p:spPr>
          <a:xfrm>
            <a:off x="9601200" y="6217920"/>
            <a:ext cx="182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2D2D2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/>
          <p:nvPr/>
        </p:nvSpPr>
        <p:spPr>
          <a:xfrm>
            <a:off x="0" y="0"/>
            <a:ext cx="9144000" cy="498300"/>
          </a:xfrm>
          <a:prstGeom prst="rect">
            <a:avLst/>
          </a:prstGeom>
          <a:solidFill>
            <a:srgbClr val="32A8A0"/>
          </a:solidFill>
          <a:ln cap="flat" cmpd="sng" w="9525">
            <a:solidFill>
              <a:srgbClr val="32A8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822960" y="510363"/>
            <a:ext cx="960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Results &amp; Observations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2"/>
          <p:cNvSpPr/>
          <p:nvPr/>
        </p:nvSpPr>
        <p:spPr>
          <a:xfrm>
            <a:off x="822960" y="1424763"/>
            <a:ext cx="457200" cy="27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2"/>
          <p:cNvSpPr txBox="1"/>
          <p:nvPr/>
        </p:nvSpPr>
        <p:spPr>
          <a:xfrm>
            <a:off x="822950" y="1799275"/>
            <a:ext cx="10058400" cy="45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</a:rPr>
              <a:t>ROC Curve (Top Graph)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lt1"/>
                </a:solidFill>
              </a:rPr>
              <a:t>An ROC curve measures how well a model separates positive and negative classes.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-US" sz="1200">
                <a:solidFill>
                  <a:schemeClr val="lt1"/>
                </a:solidFill>
              </a:rPr>
              <a:t>AUC = 0.55</a:t>
            </a:r>
            <a:r>
              <a:rPr lang="en-US" sz="1200">
                <a:solidFill>
                  <a:schemeClr val="lt1"/>
                </a:solidFill>
              </a:rPr>
              <a:t>: Shows almost zero predictive power.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-US" sz="1200">
                <a:solidFill>
                  <a:schemeClr val="lt1"/>
                </a:solidFill>
              </a:rPr>
              <a:t>Baseline comparison</a:t>
            </a:r>
            <a:r>
              <a:rPr lang="en-US" sz="1200">
                <a:solidFill>
                  <a:schemeClr val="lt1"/>
                </a:solidFill>
              </a:rPr>
              <a:t>: Random guessing gives an AUC of 0.50.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-US" sz="1200">
                <a:solidFill>
                  <a:schemeClr val="lt1"/>
                </a:solidFill>
              </a:rPr>
              <a:t>Diagonal line</a:t>
            </a:r>
            <a:r>
              <a:rPr lang="en-US" sz="1200">
                <a:solidFill>
                  <a:schemeClr val="lt1"/>
                </a:solidFill>
              </a:rPr>
              <a:t>: Your curve closely hugs the random line.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-US" sz="1200">
                <a:solidFill>
                  <a:schemeClr val="lt1"/>
                </a:solidFill>
              </a:rPr>
              <a:t>Conclusion</a:t>
            </a:r>
            <a:r>
              <a:rPr lang="en-US" sz="1200">
                <a:solidFill>
                  <a:schemeClr val="lt1"/>
                </a:solidFill>
              </a:rPr>
              <a:t>: The model cannot reliably distinguish classes.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</a:rPr>
              <a:t>📉 Precision-Recall Curve (Bottom Graph)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lt1"/>
                </a:solidFill>
              </a:rPr>
              <a:t>This curve evaluates performance when dealing with imbalanced datasets.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-US" sz="1200">
                <a:solidFill>
                  <a:schemeClr val="lt1"/>
                </a:solidFill>
              </a:rPr>
              <a:t>Flat line</a:t>
            </a:r>
            <a:r>
              <a:rPr lang="en-US" sz="1200">
                <a:solidFill>
                  <a:schemeClr val="lt1"/>
                </a:solidFill>
              </a:rPr>
              <a:t>: Precision stays constant near 0.20.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-US" sz="1200">
                <a:solidFill>
                  <a:schemeClr val="lt1"/>
                </a:solidFill>
              </a:rPr>
              <a:t>Class imbalance</a:t>
            </a:r>
            <a:r>
              <a:rPr lang="en-US" sz="1200">
                <a:solidFill>
                  <a:schemeClr val="lt1"/>
                </a:solidFill>
              </a:rPr>
              <a:t>: The positive class likely represents 20% of data.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-US" sz="1200">
                <a:solidFill>
                  <a:schemeClr val="lt1"/>
                </a:solidFill>
              </a:rPr>
              <a:t>High recall trap</a:t>
            </a:r>
            <a:r>
              <a:rPr lang="en-US" sz="1200">
                <a:solidFill>
                  <a:schemeClr val="lt1"/>
                </a:solidFill>
              </a:rPr>
              <a:t>: Increasing recall does not improve precision.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-US" sz="1200">
                <a:solidFill>
                  <a:schemeClr val="lt1"/>
                </a:solidFill>
              </a:rPr>
              <a:t>Conclusion</a:t>
            </a:r>
            <a:r>
              <a:rPr lang="en-US" sz="1200">
                <a:solidFill>
                  <a:schemeClr val="lt1"/>
                </a:solidFill>
              </a:rPr>
              <a:t>: The model behaves like a random classifier.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170" name="Google Shape;170;p22"/>
          <p:cNvSpPr txBox="1"/>
          <p:nvPr/>
        </p:nvSpPr>
        <p:spPr>
          <a:xfrm>
            <a:off x="9601200" y="6217920"/>
            <a:ext cx="182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2D2D2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3"/>
          <p:cNvSpPr/>
          <p:nvPr/>
        </p:nvSpPr>
        <p:spPr>
          <a:xfrm>
            <a:off x="0" y="0"/>
            <a:ext cx="9144000" cy="498300"/>
          </a:xfrm>
          <a:prstGeom prst="rect">
            <a:avLst/>
          </a:prstGeom>
          <a:solidFill>
            <a:srgbClr val="32A8A0"/>
          </a:solidFill>
          <a:ln cap="flat" cmpd="sng" w="9525">
            <a:solidFill>
              <a:srgbClr val="32A8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3"/>
          <p:cNvSpPr txBox="1"/>
          <p:nvPr/>
        </p:nvSpPr>
        <p:spPr>
          <a:xfrm>
            <a:off x="822960" y="510363"/>
            <a:ext cx="960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Results &amp; Observations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3"/>
          <p:cNvSpPr/>
          <p:nvPr/>
        </p:nvSpPr>
        <p:spPr>
          <a:xfrm>
            <a:off x="822960" y="1424763"/>
            <a:ext cx="457200" cy="27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3"/>
          <p:cNvSpPr txBox="1"/>
          <p:nvPr/>
        </p:nvSpPr>
        <p:spPr>
          <a:xfrm>
            <a:off x="822950" y="1799275"/>
            <a:ext cx="10058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179" name="Google Shape;179;p23"/>
          <p:cNvSpPr txBox="1"/>
          <p:nvPr/>
        </p:nvSpPr>
        <p:spPr>
          <a:xfrm>
            <a:off x="9601200" y="6217920"/>
            <a:ext cx="182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2D2D2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0150" y="1906950"/>
            <a:ext cx="4371975" cy="418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/>
          <p:nvPr/>
        </p:nvSpPr>
        <p:spPr>
          <a:xfrm>
            <a:off x="0" y="0"/>
            <a:ext cx="9144000" cy="498300"/>
          </a:xfrm>
          <a:prstGeom prst="rect">
            <a:avLst/>
          </a:prstGeom>
          <a:solidFill>
            <a:srgbClr val="32A8A0"/>
          </a:solidFill>
          <a:ln cap="flat" cmpd="sng" w="9525">
            <a:solidFill>
              <a:srgbClr val="32A8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4"/>
          <p:cNvSpPr txBox="1"/>
          <p:nvPr/>
        </p:nvSpPr>
        <p:spPr>
          <a:xfrm>
            <a:off x="822960" y="510363"/>
            <a:ext cx="960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Results &amp; Observations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4"/>
          <p:cNvSpPr/>
          <p:nvPr/>
        </p:nvSpPr>
        <p:spPr>
          <a:xfrm>
            <a:off x="822960" y="1424763"/>
            <a:ext cx="457200" cy="27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4"/>
          <p:cNvSpPr txBox="1"/>
          <p:nvPr/>
        </p:nvSpPr>
        <p:spPr>
          <a:xfrm>
            <a:off x="822950" y="1799275"/>
            <a:ext cx="10058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189" name="Google Shape;189;p24"/>
          <p:cNvSpPr txBox="1"/>
          <p:nvPr/>
        </p:nvSpPr>
        <p:spPr>
          <a:xfrm>
            <a:off x="9601200" y="6217920"/>
            <a:ext cx="182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2D2D2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8525" y="1799275"/>
            <a:ext cx="4381500" cy="422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5"/>
          <p:cNvSpPr/>
          <p:nvPr/>
        </p:nvSpPr>
        <p:spPr>
          <a:xfrm>
            <a:off x="0" y="0"/>
            <a:ext cx="9144000" cy="498300"/>
          </a:xfrm>
          <a:prstGeom prst="rect">
            <a:avLst/>
          </a:prstGeom>
          <a:solidFill>
            <a:srgbClr val="32A8A0"/>
          </a:solidFill>
          <a:ln cap="flat" cmpd="sng" w="9525">
            <a:solidFill>
              <a:srgbClr val="32A8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5"/>
          <p:cNvSpPr txBox="1"/>
          <p:nvPr/>
        </p:nvSpPr>
        <p:spPr>
          <a:xfrm>
            <a:off x="822960" y="510363"/>
            <a:ext cx="960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Recommended Next Steps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5"/>
          <p:cNvSpPr/>
          <p:nvPr/>
        </p:nvSpPr>
        <p:spPr>
          <a:xfrm>
            <a:off x="822960" y="1424763"/>
            <a:ext cx="457200" cy="27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5"/>
          <p:cNvSpPr txBox="1"/>
          <p:nvPr/>
        </p:nvSpPr>
        <p:spPr>
          <a:xfrm>
            <a:off x="822950" y="1799275"/>
            <a:ext cx="10058400" cy="22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lt1"/>
                </a:solidFill>
              </a:rPr>
              <a:t>To improve these results: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-US" sz="1200">
                <a:solidFill>
                  <a:schemeClr val="lt1"/>
                </a:solidFill>
              </a:rPr>
              <a:t>Feature engineering</a:t>
            </a:r>
            <a:r>
              <a:rPr lang="en-US" sz="1200">
                <a:solidFill>
                  <a:schemeClr val="lt1"/>
                </a:solidFill>
              </a:rPr>
              <a:t>: Add more informative predictive variables.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-US" sz="1200">
                <a:solidFill>
                  <a:schemeClr val="lt1"/>
                </a:solidFill>
              </a:rPr>
              <a:t>Fix imbalance</a:t>
            </a:r>
            <a:r>
              <a:rPr lang="en-US" sz="1200">
                <a:solidFill>
                  <a:schemeClr val="lt1"/>
                </a:solidFill>
              </a:rPr>
              <a:t>: Use oversampling (SMOTE) or undersampling.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-US" sz="1200">
                <a:solidFill>
                  <a:schemeClr val="lt1"/>
                </a:solidFill>
              </a:rPr>
              <a:t>Model tuning</a:t>
            </a:r>
            <a:r>
              <a:rPr lang="en-US" sz="1200">
                <a:solidFill>
                  <a:schemeClr val="lt1"/>
                </a:solidFill>
              </a:rPr>
              <a:t>: Adjust hyper-parameters or try different algorithms.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-US" sz="1200">
                <a:solidFill>
                  <a:schemeClr val="lt1"/>
                </a:solidFill>
              </a:rPr>
              <a:t>Check labels</a:t>
            </a:r>
            <a:r>
              <a:rPr lang="en-US" sz="1200">
                <a:solidFill>
                  <a:schemeClr val="lt1"/>
                </a:solidFill>
              </a:rPr>
              <a:t>: Ensure training data targets are correct.</a:t>
            </a:r>
            <a:endParaRPr sz="12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199" name="Google Shape;199;p25"/>
          <p:cNvSpPr txBox="1"/>
          <p:nvPr/>
        </p:nvSpPr>
        <p:spPr>
          <a:xfrm>
            <a:off x="9601200" y="6217920"/>
            <a:ext cx="182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2D2D2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/>
          <p:nvPr/>
        </p:nvSpPr>
        <p:spPr>
          <a:xfrm>
            <a:off x="0" y="0"/>
            <a:ext cx="9144000" cy="498300"/>
          </a:xfrm>
          <a:prstGeom prst="rect">
            <a:avLst/>
          </a:prstGeom>
          <a:solidFill>
            <a:srgbClr val="32A8A0"/>
          </a:solidFill>
          <a:ln cap="flat" cmpd="sng" w="9525">
            <a:solidFill>
              <a:srgbClr val="32A8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6"/>
          <p:cNvSpPr txBox="1"/>
          <p:nvPr/>
        </p:nvSpPr>
        <p:spPr>
          <a:xfrm>
            <a:off x="822960" y="510363"/>
            <a:ext cx="960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Emerging Systems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822960" y="1424763"/>
            <a:ext cx="457200" cy="27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6"/>
          <p:cNvSpPr txBox="1"/>
          <p:nvPr/>
        </p:nvSpPr>
        <p:spPr>
          <a:xfrm>
            <a:off x="822950" y="1799275"/>
            <a:ext cx="100584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US" sz="1200">
                <a:solidFill>
                  <a:schemeClr val="lt1"/>
                </a:solidFill>
              </a:rPr>
              <a:t>CNN + LSTM (temporal modeling)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US" sz="1200">
                <a:solidFill>
                  <a:schemeClr val="lt1"/>
                </a:solidFill>
              </a:rPr>
              <a:t>Transformer-based vision models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US" sz="1200">
                <a:solidFill>
                  <a:schemeClr val="lt1"/>
                </a:solidFill>
              </a:rPr>
              <a:t>Multimodal systems (video + audio + EEG)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US" sz="1200">
                <a:solidFill>
                  <a:schemeClr val="lt1"/>
                </a:solidFill>
              </a:rPr>
              <a:t>Attention-based facial analysis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208" name="Google Shape;208;p26"/>
          <p:cNvSpPr txBox="1"/>
          <p:nvPr/>
        </p:nvSpPr>
        <p:spPr>
          <a:xfrm>
            <a:off x="9601200" y="6217920"/>
            <a:ext cx="182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2D2D2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7"/>
          <p:cNvSpPr/>
          <p:nvPr/>
        </p:nvSpPr>
        <p:spPr>
          <a:xfrm>
            <a:off x="0" y="0"/>
            <a:ext cx="9144000" cy="498300"/>
          </a:xfrm>
          <a:prstGeom prst="rect">
            <a:avLst/>
          </a:prstGeom>
          <a:solidFill>
            <a:srgbClr val="32A8A0"/>
          </a:solidFill>
          <a:ln cap="flat" cmpd="sng" w="9525">
            <a:solidFill>
              <a:srgbClr val="32A8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7"/>
          <p:cNvSpPr txBox="1"/>
          <p:nvPr/>
        </p:nvSpPr>
        <p:spPr>
          <a:xfrm>
            <a:off x="822960" y="510363"/>
            <a:ext cx="960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Future Directions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7"/>
          <p:cNvSpPr/>
          <p:nvPr/>
        </p:nvSpPr>
        <p:spPr>
          <a:xfrm>
            <a:off x="822960" y="1424763"/>
            <a:ext cx="457200" cy="27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7"/>
          <p:cNvSpPr txBox="1"/>
          <p:nvPr/>
        </p:nvSpPr>
        <p:spPr>
          <a:xfrm>
            <a:off x="822950" y="1799275"/>
            <a:ext cx="100584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US" sz="1200">
                <a:solidFill>
                  <a:schemeClr val="lt1"/>
                </a:solidFill>
              </a:rPr>
              <a:t>Class balancing (weighted loss)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US" sz="1200">
                <a:solidFill>
                  <a:schemeClr val="lt1"/>
                </a:solidFill>
              </a:rPr>
              <a:t>Focal Loss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US" sz="1200">
                <a:solidFill>
                  <a:schemeClr val="lt1"/>
                </a:solidFill>
              </a:rPr>
              <a:t>Temporal modeling (ResNet + LSTM)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US" sz="1200">
                <a:solidFill>
                  <a:schemeClr val="lt1"/>
                </a:solidFill>
              </a:rPr>
              <a:t>Domain adaptation techniques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217" name="Google Shape;217;p27"/>
          <p:cNvSpPr txBox="1"/>
          <p:nvPr/>
        </p:nvSpPr>
        <p:spPr>
          <a:xfrm>
            <a:off x="9601200" y="6217920"/>
            <a:ext cx="182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2D2D2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8"/>
          <p:cNvSpPr/>
          <p:nvPr/>
        </p:nvSpPr>
        <p:spPr>
          <a:xfrm>
            <a:off x="0" y="0"/>
            <a:ext cx="9144000" cy="498300"/>
          </a:xfrm>
          <a:prstGeom prst="rect">
            <a:avLst/>
          </a:prstGeom>
          <a:solidFill>
            <a:srgbClr val="32A8A0"/>
          </a:solidFill>
          <a:ln cap="flat" cmpd="sng" w="9525">
            <a:solidFill>
              <a:srgbClr val="32A8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8"/>
          <p:cNvSpPr txBox="1"/>
          <p:nvPr/>
        </p:nvSpPr>
        <p:spPr>
          <a:xfrm>
            <a:off x="822960" y="510363"/>
            <a:ext cx="960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Conclusion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8"/>
          <p:cNvSpPr/>
          <p:nvPr/>
        </p:nvSpPr>
        <p:spPr>
          <a:xfrm>
            <a:off x="822960" y="1424763"/>
            <a:ext cx="457200" cy="27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8"/>
          <p:cNvSpPr txBox="1"/>
          <p:nvPr/>
        </p:nvSpPr>
        <p:spPr>
          <a:xfrm>
            <a:off x="822950" y="1799275"/>
            <a:ext cx="10058400" cy="38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lt1"/>
                </a:solidFill>
              </a:rPr>
              <a:t>What was achieved</a:t>
            </a:r>
            <a:endParaRPr b="1" sz="17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End-to-end deep learning pipeline built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ResNet18 applied to video emotion recognition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Cross-dataset evaluation implemented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Model limitations identified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lt1"/>
                </a:solidFill>
              </a:rPr>
              <a:t>Open Problems</a:t>
            </a:r>
            <a:endParaRPr b="1" sz="17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Dataset imbalance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Domain shift between datasets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Lack of temporal modeling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lt1"/>
                </a:solidFill>
              </a:rPr>
              <a:t>Final Insight</a:t>
            </a:r>
            <a:endParaRPr b="1" sz="1700">
              <a:solidFill>
                <a:schemeClr val="lt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</a:rPr>
              <a:t>Deep learning works well, but real-world emotion recognition still requires better generalization and temporal understanding.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226" name="Google Shape;226;p28"/>
          <p:cNvSpPr txBox="1"/>
          <p:nvPr/>
        </p:nvSpPr>
        <p:spPr>
          <a:xfrm>
            <a:off x="9601200" y="6217920"/>
            <a:ext cx="182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2D2D2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"/>
          <p:cNvSpPr/>
          <p:nvPr/>
        </p:nvSpPr>
        <p:spPr>
          <a:xfrm>
            <a:off x="0" y="0"/>
            <a:ext cx="9144000" cy="498300"/>
          </a:xfrm>
          <a:prstGeom prst="rect">
            <a:avLst/>
          </a:prstGeom>
          <a:solidFill>
            <a:srgbClr val="32A8A0"/>
          </a:solidFill>
          <a:ln cap="flat" cmpd="sng" w="9525">
            <a:solidFill>
              <a:srgbClr val="32A8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9"/>
          <p:cNvSpPr txBox="1"/>
          <p:nvPr/>
        </p:nvSpPr>
        <p:spPr>
          <a:xfrm>
            <a:off x="822960" y="510363"/>
            <a:ext cx="960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Conclusion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9"/>
          <p:cNvSpPr/>
          <p:nvPr/>
        </p:nvSpPr>
        <p:spPr>
          <a:xfrm>
            <a:off x="822960" y="1424763"/>
            <a:ext cx="457200" cy="27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9"/>
          <p:cNvSpPr txBox="1"/>
          <p:nvPr/>
        </p:nvSpPr>
        <p:spPr>
          <a:xfrm>
            <a:off x="822950" y="1799275"/>
            <a:ext cx="10058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lt1"/>
                </a:solidFill>
              </a:rPr>
              <a:t>THANKS!!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235" name="Google Shape;235;p29"/>
          <p:cNvSpPr txBox="1"/>
          <p:nvPr/>
        </p:nvSpPr>
        <p:spPr>
          <a:xfrm>
            <a:off x="9601200" y="6217920"/>
            <a:ext cx="182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2D2D2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