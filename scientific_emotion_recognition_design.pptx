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6" roundtripDataSignature="AMtx7mg2tiTsiv6sS5vjqhGAI5b0DSBzp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822952" y="2743200"/>
            <a:ext cx="78843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Deep Learning for Happy vs. Not Happy Facial Expression Recognition in Video</a:t>
            </a:r>
            <a:endParaRPr/>
          </a:p>
        </p:txBody>
      </p:sp>
      <p:sp>
        <p:nvSpPr>
          <p:cNvPr id="86" name="Google Shape;86;p1"/>
          <p:cNvSpPr/>
          <p:nvPr/>
        </p:nvSpPr>
        <p:spPr>
          <a:xfrm>
            <a:off x="822960" y="3657600"/>
            <a:ext cx="457200" cy="274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822960" y="4114800"/>
            <a:ext cx="10058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Jose Carlos Alania Aguero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ECE-533 Image Processing 2026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University of New Mexico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822960" y="2743200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Motivation &amp; Objectives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822960" y="3657600"/>
            <a:ext cx="457200" cy="274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822960" y="4114800"/>
            <a:ext cx="10058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Human-computer interaction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Mental health monitoring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Video emotion recognition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Binary classification: Happy vs Not Happy</a:t>
            </a:r>
            <a:endParaRPr/>
          </a:p>
        </p:txBody>
      </p:sp>
      <p:sp>
        <p:nvSpPr>
          <p:cNvPr id="97" name="Google Shape;97;p2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 txBox="1"/>
          <p:nvPr/>
        </p:nvSpPr>
        <p:spPr>
          <a:xfrm>
            <a:off x="822960" y="2743200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Dataset Design</a:t>
            </a:r>
            <a:endParaRPr/>
          </a:p>
        </p:txBody>
      </p:sp>
      <p:sp>
        <p:nvSpPr>
          <p:cNvPr id="104" name="Google Shape;104;p3"/>
          <p:cNvSpPr/>
          <p:nvPr/>
        </p:nvSpPr>
        <p:spPr>
          <a:xfrm>
            <a:off x="822960" y="3657600"/>
            <a:ext cx="457200" cy="274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822960" y="4114800"/>
            <a:ext cx="10058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RAVDESS → Training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CREMA-D → Validation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AFEW → Testing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Cross-dataset generalization challenge</a:t>
            </a:r>
            <a:endParaRPr/>
          </a:p>
        </p:txBody>
      </p:sp>
      <p:sp>
        <p:nvSpPr>
          <p:cNvPr id="106" name="Google Shape;106;p3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 txBox="1"/>
          <p:nvPr/>
        </p:nvSpPr>
        <p:spPr>
          <a:xfrm>
            <a:off x="822960" y="2743200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Training Pipeline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822960" y="3657600"/>
            <a:ext cx="457200" cy="274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822960" y="4114800"/>
            <a:ext cx="10058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Video preprocessing and augmentation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ResNet18 feature extraction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CrossEntropy + Adam optimizer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K-Fold validation and early stopping</a:t>
            </a:r>
            <a:endParaRPr/>
          </a:p>
        </p:txBody>
      </p:sp>
      <p:sp>
        <p:nvSpPr>
          <p:cNvPr id="115" name="Google Shape;115;p4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 txBox="1"/>
          <p:nvPr/>
        </p:nvSpPr>
        <p:spPr>
          <a:xfrm>
            <a:off x="822960" y="2743200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Validation Pipeline</a:t>
            </a:r>
            <a:endParaRPr/>
          </a:p>
        </p:txBody>
      </p:sp>
      <p:sp>
        <p:nvSpPr>
          <p:cNvPr id="122" name="Google Shape;122;p5"/>
          <p:cNvSpPr/>
          <p:nvPr/>
        </p:nvSpPr>
        <p:spPr>
          <a:xfrm>
            <a:off x="822960" y="3657600"/>
            <a:ext cx="457200" cy="274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 txBox="1"/>
          <p:nvPr/>
        </p:nvSpPr>
        <p:spPr>
          <a:xfrm>
            <a:off x="822960" y="4114800"/>
            <a:ext cx="10058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Middle-frame extraction from CREMA-D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Normalization and inference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Validation metrics evaluation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ROC and confusion matrix analysis</a:t>
            </a:r>
            <a:endParaRPr/>
          </a:p>
        </p:txBody>
      </p:sp>
      <p:sp>
        <p:nvSpPr>
          <p:cNvPr id="124" name="Google Shape;124;p5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 txBox="1"/>
          <p:nvPr/>
        </p:nvSpPr>
        <p:spPr>
          <a:xfrm>
            <a:off x="822960" y="2743200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Validation Results</a:t>
            </a: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822960" y="3657600"/>
            <a:ext cx="457200" cy="274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 txBox="1"/>
          <p:nvPr/>
        </p:nvSpPr>
        <p:spPr>
          <a:xfrm>
            <a:off x="822960" y="4114800"/>
            <a:ext cx="10058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Accuracy: 82.82%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Precision: 0.0000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Recall: 0.0000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F1-score: 0.0000</a:t>
            </a:r>
            <a:endParaRPr/>
          </a:p>
        </p:txBody>
      </p:sp>
      <p:sp>
        <p:nvSpPr>
          <p:cNvPr id="133" name="Google Shape;133;p6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 txBox="1"/>
          <p:nvPr/>
        </p:nvSpPr>
        <p:spPr>
          <a:xfrm>
            <a:off x="822960" y="2743200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Testing Pipeline &amp; Results</a:t>
            </a:r>
            <a:endParaRPr/>
          </a:p>
        </p:txBody>
      </p:sp>
      <p:sp>
        <p:nvSpPr>
          <p:cNvPr id="140" name="Google Shape;140;p7"/>
          <p:cNvSpPr/>
          <p:nvPr/>
        </p:nvSpPr>
        <p:spPr>
          <a:xfrm>
            <a:off x="822960" y="3657600"/>
            <a:ext cx="457200" cy="274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 txBox="1"/>
          <p:nvPr/>
        </p:nvSpPr>
        <p:spPr>
          <a:xfrm>
            <a:off x="822960" y="4114800"/>
            <a:ext cx="10058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Independent test set evaluation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Accuracy: 82.62%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Model generalized poorly on Happy class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Class imbalance remained dominant</a:t>
            </a:r>
            <a:endParaRPr/>
          </a:p>
        </p:txBody>
      </p:sp>
      <p:sp>
        <p:nvSpPr>
          <p:cNvPr id="142" name="Google Shape;142;p7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 txBox="1"/>
          <p:nvPr/>
        </p:nvSpPr>
        <p:spPr>
          <a:xfrm>
            <a:off x="822960" y="2743200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Failure Analysis</a:t>
            </a:r>
            <a:endParaRPr/>
          </a:p>
        </p:txBody>
      </p:sp>
      <p:sp>
        <p:nvSpPr>
          <p:cNvPr id="149" name="Google Shape;149;p8"/>
          <p:cNvSpPr/>
          <p:nvPr/>
        </p:nvSpPr>
        <p:spPr>
          <a:xfrm>
            <a:off x="822960" y="3657600"/>
            <a:ext cx="457200" cy="274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 txBox="1"/>
          <p:nvPr/>
        </p:nvSpPr>
        <p:spPr>
          <a:xfrm>
            <a:off x="822960" y="4114800"/>
            <a:ext cx="10058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Majority-class prediction bias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Accuracy became misleading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Recall and F1-score revealed limitations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Domain shift reduced generalization</a:t>
            </a:r>
            <a:endParaRPr/>
          </a:p>
        </p:txBody>
      </p:sp>
      <p:sp>
        <p:nvSpPr>
          <p:cNvPr id="151" name="Google Shape;151;p8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9"/>
          <p:cNvSpPr txBox="1"/>
          <p:nvPr/>
        </p:nvSpPr>
        <p:spPr>
          <a:xfrm>
            <a:off x="822960" y="2743200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Future Improvements</a:t>
            </a:r>
            <a:endParaRPr/>
          </a:p>
        </p:txBody>
      </p:sp>
      <p:sp>
        <p:nvSpPr>
          <p:cNvPr id="158" name="Google Shape;158;p9"/>
          <p:cNvSpPr/>
          <p:nvPr/>
        </p:nvSpPr>
        <p:spPr>
          <a:xfrm>
            <a:off x="822960" y="3657600"/>
            <a:ext cx="457200" cy="274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9"/>
          <p:cNvSpPr txBox="1"/>
          <p:nvPr/>
        </p:nvSpPr>
        <p:spPr>
          <a:xfrm>
            <a:off x="822960" y="4114800"/>
            <a:ext cx="10058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Weighted loss functions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Balanced sampling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Longer training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ResNet + LSTM temporal modeling</a:t>
            </a:r>
            <a:endParaRPr/>
          </a:p>
        </p:txBody>
      </p:sp>
      <p:sp>
        <p:nvSpPr>
          <p:cNvPr id="160" name="Google Shape;160;p9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0"/>
          <p:cNvSpPr txBox="1"/>
          <p:nvPr/>
        </p:nvSpPr>
        <p:spPr>
          <a:xfrm>
            <a:off x="822960" y="2743200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Conclusion</a:t>
            </a:r>
            <a:endParaRPr/>
          </a:p>
        </p:txBody>
      </p:sp>
      <p:sp>
        <p:nvSpPr>
          <p:cNvPr id="167" name="Google Shape;167;p10"/>
          <p:cNvSpPr/>
          <p:nvPr/>
        </p:nvSpPr>
        <p:spPr>
          <a:xfrm>
            <a:off x="822960" y="3657600"/>
            <a:ext cx="457200" cy="274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0"/>
          <p:cNvSpPr txBox="1"/>
          <p:nvPr/>
        </p:nvSpPr>
        <p:spPr>
          <a:xfrm>
            <a:off x="822960" y="4114800"/>
            <a:ext cx="10058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Complete deep learning pipeline implemented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Validation and testing workflows analyzed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Class imbalance identified as major issue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Future work focuses on temporal learning</a:t>
            </a:r>
            <a:endParaRPr/>
          </a:p>
        </p:txBody>
      </p:sp>
      <p:sp>
        <p:nvSpPr>
          <p:cNvPr id="169" name="Google Shape;169;p10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10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